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A87C"/>
                </a:solidFill>
                <a:latin typeface="Calibri"/>
              </a:rPr>
              <a:t>GLOBAL TRADE BRIEFING  · 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AF8F3"/>
                </a:solidFill>
                <a:latin typeface="Calibri"/>
              </a:rPr>
              <a:t>Supply Chains Under Uncertainty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8B4BC"/>
                </a:solidFill>
                <a:latin typeface="Calibri"/>
              </a:rPr>
              <a:t>How tariffs, conflict, and chokepoint disruption are rewriting the rules of global logistics — and what leaders are doing about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AF8F3"/>
                </a:solidFill>
                <a:latin typeface="Calibri"/>
              </a:rPr>
              <a:t>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40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4BC"/>
                </a:solidFill>
                <a:latin typeface="Calibri"/>
              </a:rPr>
              <a:t>Current state &amp; strategic trends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51206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AF8F3"/>
                </a:solidFill>
                <a:latin typeface="Calibri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5440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4BC"/>
                </a:solidFill>
                <a:latin typeface="Calibri"/>
              </a:rPr>
              <a:t>Trade policy · Geopolitics · Physical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0" y="51206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AF8F3"/>
                </a:solidFill>
                <a:latin typeface="Calibri"/>
              </a:rPr>
              <a:t>Audience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5440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4BC"/>
                </a:solidFill>
                <a:latin typeface="Calibri"/>
              </a:rPr>
              <a:t>Operators, planners &amp; executives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A87C"/>
                </a:solidFill>
                <a:latin typeface="Calibri"/>
              </a:rPr>
              <a:t>01 — THE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AF8F3"/>
                </a:solidFill>
                <a:latin typeface="Calibri"/>
              </a:rPr>
              <a:t>From fixed networks to constant 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8B4BC"/>
                </a:solidFill>
                <a:latin typeface="Calibri"/>
              </a:rPr>
              <a:t>Efficiency-first globalization is giving way to adaptive, higher-cost networks. Trade policy, geopolitical risk, and technology are now embedded in the cost of doing business.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651760"/>
            <a:ext cx="3520440" cy="2926080"/>
          </a:xfrm>
          <a:prstGeom prst="rect">
            <a:avLst/>
          </a:prstGeom>
          <a:solidFill>
            <a:srgbClr val="1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651760"/>
            <a:ext cx="73152" cy="2926080"/>
          </a:xfrm>
          <a:prstGeom prst="rect">
            <a:avLst/>
          </a:prstGeom>
          <a:solidFill>
            <a:srgbClr val="1A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AF8F3"/>
                </a:solidFill>
                <a:latin typeface="Calibri"/>
              </a:rPr>
              <a:t>Resilience over lowest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31546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4BC"/>
                </a:solidFill>
                <a:latin typeface="Calibri"/>
              </a:rPr>
              <a:t>Boards now treat continuity and optionality as competitive assets — not temporary insurance after a shock.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651760"/>
            <a:ext cx="3520440" cy="2926080"/>
          </a:xfrm>
          <a:prstGeom prst="rect">
            <a:avLst/>
          </a:prstGeom>
          <a:solidFill>
            <a:srgbClr val="1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651760"/>
            <a:ext cx="73152" cy="292608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83464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AF8F3"/>
                </a:solidFill>
                <a:latin typeface="Calibri"/>
              </a:rPr>
              <a:t>Policy as standing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46120"/>
            <a:ext cx="31546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4BC"/>
                </a:solidFill>
                <a:latin typeface="Calibri"/>
              </a:rPr>
              <a:t>Tariffs and trade barriers are no longer a short-lived storm to wait out; they are structural inputs to sourcing math.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651760"/>
            <a:ext cx="3520440" cy="2926080"/>
          </a:xfrm>
          <a:prstGeom prst="rect">
            <a:avLst/>
          </a:prstGeom>
          <a:solidFill>
            <a:srgbClr val="1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651760"/>
            <a:ext cx="73152" cy="2926080"/>
          </a:xfrm>
          <a:prstGeom prst="rect">
            <a:avLst/>
          </a:prstGeom>
          <a:solidFill>
            <a:srgbClr val="1A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83464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AF8F3"/>
                </a:solidFill>
                <a:latin typeface="Calibri"/>
              </a:rPr>
              <a:t>Fragmented geography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246120"/>
            <a:ext cx="31546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4BC"/>
                </a:solidFill>
                <a:latin typeface="Calibri"/>
              </a:rPr>
              <a:t>Multi-country footprints — Mexico, Vietnam, India, and beyond — replace single-source dependence on China.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BC"/>
                </a:solidFill>
                <a:latin typeface="Calibri"/>
              </a:rPr>
              <a:t>Sources: KPMG Biannual Supply Chain Report (Mar 2026); DP World Global Trade Observatory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A87C"/>
                </a:solidFill>
                <a:latin typeface="Calibri"/>
              </a:rPr>
              <a:t>02 — TARIFFS &amp; TRADE WARS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AF8F3"/>
                </a:solidFill>
                <a:latin typeface="Calibri"/>
              </a:rPr>
              <a:t>Tariffs rewired sourcing — they did not end imports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338328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AF8F3"/>
                </a:solidFill>
                <a:latin typeface="Calibri"/>
              </a:rPr>
              <a:t>−28%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4BC"/>
                </a:solidFill>
                <a:latin typeface="Calibri"/>
              </a:rPr>
              <a:t>Drop in US imports from China in 2025 after renewed tariff escalation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737360"/>
            <a:ext cx="338328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9659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AF8F3"/>
                </a:solidFill>
                <a:latin typeface="Calibri"/>
              </a:rPr>
              <a:t>+9%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7432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4BC"/>
                </a:solidFill>
                <a:latin typeface="Calibri"/>
              </a:rPr>
              <a:t>Rise in US imports from the rest of the world in the same period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737360"/>
            <a:ext cx="338328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9659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AF8F3"/>
                </a:solidFill>
                <a:latin typeface="Calibri"/>
              </a:rPr>
              <a:t>~9%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7432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4BC"/>
                </a:solidFill>
                <a:latin typeface="Calibri"/>
              </a:rPr>
              <a:t>China’s share of US imports by end-2025 (down from ~22% pre-2018)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319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FAF8F3"/>
                </a:solidFill>
                <a:latin typeface="Calibri"/>
              </a:rPr>
              <a:t>•  Electronics shifted fast to India and Vietnam; apparel often did not — tariff differentials were too small to force a move.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FAF8F3"/>
                </a:solidFill>
                <a:latin typeface="Calibri"/>
              </a:rPr>
              <a:t>•  USMCA carve-outs remain a major mitigator; renegotiation risk could add several points to effective tariff rates.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FAF8F3"/>
                </a:solidFill>
                <a:latin typeface="Calibri"/>
              </a:rPr>
              <a:t>•  Most firms still raise prices and delay capital projects rather than fully reshore overnight.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BC"/>
                </a:solidFill>
                <a:latin typeface="Calibri"/>
              </a:rPr>
              <a:t>Sources: PIIE Working Paper 26-14; KPMG 2026 Tariff Survey; Kearney 2026 Reshoring Index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A87C"/>
                </a:solidFill>
                <a:latin typeface="Calibri"/>
              </a:rPr>
              <a:t>03 — WARS &amp; GEOPOLITICS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AF8F3"/>
                </a:solidFill>
                <a:latin typeface="Calibri"/>
              </a:rPr>
              <a:t>Conflict risk is no longer episodic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73152" cy="1188720"/>
          </a:xfrm>
          <a:prstGeom prst="rect">
            <a:avLst/>
          </a:prstGeom>
          <a:solidFill>
            <a:srgbClr val="1A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5669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2EFE6"/>
                </a:solidFill>
                <a:latin typeface="Calibri"/>
              </a:rPr>
              <a:t>Geopolitical risk indices in 2025 reached levels not seen since 2022 — among the highest since the early 2000s wars.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FAF8F3"/>
                </a:solidFill>
                <a:latin typeface="Calibri"/>
              </a:rPr>
              <a:t>•  Russia–Ukraine continues to scramble energy, grain, and industrial metals corridors.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FAF8F3"/>
                </a:solidFill>
                <a:latin typeface="Calibri"/>
              </a:rPr>
              <a:t>•  Middle East tensions keep insurance premiums and route choices volatile.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FAF8F3"/>
                </a:solidFill>
                <a:latin typeface="Calibri"/>
              </a:rPr>
              <a:t>•  Export controls and dual-use restrictions harden tech and critical-materials flows.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1737360"/>
            <a:ext cx="4480560" cy="1920240"/>
          </a:xfrm>
          <a:prstGeom prst="rect">
            <a:avLst/>
          </a:prstGeom>
          <a:solidFill>
            <a:srgbClr val="1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0880" y="1737360"/>
            <a:ext cx="73152" cy="192024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AF8F3"/>
                </a:solidFill>
                <a:latin typeface="Calibri"/>
              </a:rPr>
              <a:t>Political distance ≠ supply 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2331720"/>
            <a:ext cx="4114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4BC"/>
                </a:solidFill>
                <a:latin typeface="Calibri"/>
              </a:rPr>
              <a:t>“Friendly” assembly hubs often still depend on Chinese inputs — friendshoring can relocate risk rather than eliminate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3840480"/>
            <a:ext cx="4480560" cy="1920240"/>
          </a:xfrm>
          <a:prstGeom prst="rect">
            <a:avLst/>
          </a:prstGeom>
          <a:solidFill>
            <a:srgbClr val="1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80" y="3840480"/>
            <a:ext cx="73152" cy="1920240"/>
          </a:xfrm>
          <a:prstGeom prst="rect">
            <a:avLst/>
          </a:prstGeom>
          <a:solidFill>
            <a:srgbClr val="1A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4023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AF8F3"/>
                </a:solidFill>
                <a:latin typeface="Calibri"/>
              </a:rPr>
              <a:t>Scenario planning is table stakes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4434840"/>
            <a:ext cx="4114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4BC"/>
                </a:solidFill>
                <a:latin typeface="Calibri"/>
              </a:rPr>
              <a:t>Leaders model tariff, conflict, and chokepoint scenarios together — not as separate risk silos.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BC"/>
                </a:solidFill>
                <a:latin typeface="Calibri"/>
              </a:rPr>
              <a:t>Sources: KPMG Mar 2026; Economist Impact Trade in Transition 2025; Capgemini Reindustrialization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A87C"/>
                </a:solidFill>
                <a:latin typeface="Calibri"/>
              </a:rPr>
              <a:t>04 — PHYSICAL DISRUPTION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AF8F3"/>
                </a:solidFill>
                <a:latin typeface="Calibri"/>
              </a:rPr>
              <a:t>Chokepoints still set the tempo of trade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3520440" cy="2560320"/>
          </a:xfrm>
          <a:prstGeom prst="rect">
            <a:avLst/>
          </a:prstGeom>
          <a:solidFill>
            <a:srgbClr val="1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73152" cy="25603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AF8F3"/>
                </a:solidFill>
                <a:latin typeface="Calibri"/>
              </a:rPr>
              <a:t>Red Sea / Suez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31546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4BC"/>
                </a:solidFill>
                <a:latin typeface="Calibri"/>
              </a:rPr>
              <a:t>Attacks forced widespread Cape of Good Hope detours — adding roughly 7–12 days and large fuel and capacity penalties on Asia–Europe lanes.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737360"/>
            <a:ext cx="3520440" cy="2560320"/>
          </a:xfrm>
          <a:prstGeom prst="rect">
            <a:avLst/>
          </a:prstGeom>
          <a:solidFill>
            <a:srgbClr val="1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737360"/>
            <a:ext cx="73152" cy="2560320"/>
          </a:xfrm>
          <a:prstGeom prst="rect">
            <a:avLst/>
          </a:prstGeom>
          <a:solidFill>
            <a:srgbClr val="1A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AF8F3"/>
                </a:solidFill>
                <a:latin typeface="Calibri"/>
              </a:rPr>
              <a:t>Panama Canal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31720"/>
            <a:ext cx="31546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4BC"/>
                </a:solidFill>
                <a:latin typeface="Calibri"/>
              </a:rPr>
              <a:t>Drought and transit limits compressed capacity on Americas–Asia routes, amplifying backlog risk when other corridors strain.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737360"/>
            <a:ext cx="3520440" cy="2560320"/>
          </a:xfrm>
          <a:prstGeom prst="rect">
            <a:avLst/>
          </a:prstGeom>
          <a:solidFill>
            <a:srgbClr val="1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737360"/>
            <a:ext cx="73152" cy="2560320"/>
          </a:xfrm>
          <a:prstGeom prst="rect">
            <a:avLst/>
          </a:prstGeom>
          <a:solidFill>
            <a:srgbClr val="1A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92024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AF8F3"/>
                </a:solidFill>
                <a:latin typeface="Calibri"/>
              </a:rPr>
              <a:t>Freight &amp; capacity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331720"/>
            <a:ext cx="31546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4BC"/>
                </a:solidFill>
                <a:latin typeface="Calibri"/>
              </a:rPr>
              <a:t>Rerouting cuts effective global capacity and lifts rates; disruption compounds tariff-driven demand shifts.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6634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FAF8F3"/>
                </a:solidFill>
                <a:latin typeface="Calibri"/>
              </a:rPr>
              <a:t>•  Contingency routing and multi-carrier contracts moved from “nice to have” to operating standard.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FAF8F3"/>
                </a:solidFill>
                <a:latin typeface="Calibri"/>
              </a:rPr>
              <a:t>•  Inventory buffers rose again: executives cite stock builds alongside diversification as top 2026 moves.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BC"/>
                </a:solidFill>
                <a:latin typeface="Calibri"/>
              </a:rPr>
              <a:t>Sources: Container News; industry disruption briefings 2025–26; DP World GTO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A87C"/>
                </a:solidFill>
                <a:latin typeface="Calibri"/>
              </a:rPr>
              <a:t>05 — STRATEGIC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AF8F3"/>
                </a:solidFill>
                <a:latin typeface="Calibri"/>
              </a:rPr>
              <a:t>Four playbooks, one goal: optionality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5257800" cy="2057400"/>
          </a:xfrm>
          <a:prstGeom prst="rect">
            <a:avLst/>
          </a:prstGeom>
          <a:solidFill>
            <a:srgbClr val="1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73152" cy="2057400"/>
          </a:xfrm>
          <a:prstGeom prst="rect">
            <a:avLst/>
          </a:prstGeom>
          <a:solidFill>
            <a:srgbClr val="1A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AF8F3"/>
                </a:solidFill>
                <a:latin typeface="Calibri"/>
              </a:rPr>
              <a:t>China + 1 / + 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4BC"/>
                </a:solidFill>
                <a:latin typeface="Calibri"/>
              </a:rPr>
              <a:t>Keep China where it still wins on scale; add Vietnam, India, Mexico, and others for tariff and continuity hedges. Cited by ~51% of trade execs as a top 2026 shift.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691640"/>
            <a:ext cx="5257800" cy="2057400"/>
          </a:xfrm>
          <a:prstGeom prst="rect">
            <a:avLst/>
          </a:prstGeom>
          <a:solidFill>
            <a:srgbClr val="1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91640"/>
            <a:ext cx="73152" cy="2057400"/>
          </a:xfrm>
          <a:prstGeom prst="rect">
            <a:avLst/>
          </a:prstGeom>
          <a:solidFill>
            <a:srgbClr val="1A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2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AF8F3"/>
                </a:solidFill>
                <a:latin typeface="Calibri"/>
              </a:rPr>
              <a:t>Friendshoring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4BC"/>
                </a:solidFill>
                <a:latin typeface="Calibri"/>
              </a:rPr>
              <a:t>~36% plan deeper ties with politically aligned partners — useful, but alliance labels shift with policy.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977639"/>
            <a:ext cx="5257800" cy="2057400"/>
          </a:xfrm>
          <a:prstGeom prst="rect">
            <a:avLst/>
          </a:prstGeom>
          <a:solidFill>
            <a:srgbClr val="1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977639"/>
            <a:ext cx="73152" cy="2057400"/>
          </a:xfrm>
          <a:prstGeom prst="rect">
            <a:avLst/>
          </a:prstGeom>
          <a:solidFill>
            <a:srgbClr val="1A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160519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AF8F3"/>
                </a:solidFill>
                <a:latin typeface="Calibri"/>
              </a:rPr>
              <a:t>Nearshoring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71999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4BC"/>
                </a:solidFill>
                <a:latin typeface="Calibri"/>
              </a:rPr>
              <a:t>Mexico remains pivotal for US-bound goods, yet tariff uncertainty and USMCA risk have cooled confidence for many.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977639"/>
            <a:ext cx="5257800" cy="2057400"/>
          </a:xfrm>
          <a:prstGeom prst="rect">
            <a:avLst/>
          </a:prstGeom>
          <a:solidFill>
            <a:srgbClr val="1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977639"/>
            <a:ext cx="73152" cy="20574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160519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AF8F3"/>
                </a:solidFill>
                <a:latin typeface="Calibri"/>
              </a:rPr>
              <a:t>Reshoring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571999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4BC"/>
                </a:solidFill>
                <a:latin typeface="Calibri"/>
              </a:rPr>
              <a:t>Formal reshoring plans jumped (to ~26% in KPMG survey), but most say full moves take 1–3 years amid labor, capital, and tier-2 gaps.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BC"/>
                </a:solidFill>
                <a:latin typeface="Calibri"/>
              </a:rPr>
              <a:t>Sources: DP World Global Trade Observatory 2026; Kearney Reshoring Index 2026; KPMG Tariff Survey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A87C"/>
                </a:solidFill>
                <a:latin typeface="Calibri"/>
              </a:rPr>
              <a:t>06 — WHAT THE DATA SAYS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AF8F3"/>
                </a:solidFill>
                <a:latin typeface="Calibri"/>
              </a:rPr>
              <a:t>Confidence in trade — with eyes wide open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338328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AF8F3"/>
                </a:solidFill>
                <a:latin typeface="Calibri"/>
              </a:rPr>
              <a:t>94%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4BC"/>
                </a:solidFill>
                <a:latin typeface="Calibri"/>
              </a:rPr>
              <a:t>of trade executives expect 2026 growth to match or beat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737360"/>
            <a:ext cx="338328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9659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AF8F3"/>
                </a:solidFill>
                <a:latin typeface="Calibri"/>
              </a:rPr>
              <a:t>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7432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4BC"/>
                </a:solidFill>
                <a:latin typeface="Calibri"/>
              </a:rPr>
              <a:t>expect trade barriers to rise or stay elevated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737360"/>
            <a:ext cx="338328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9659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AF8F3"/>
                </a:solidFill>
                <a:latin typeface="Calibri"/>
              </a:rPr>
              <a:t>68%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7432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4BC"/>
                </a:solidFill>
                <a:latin typeface="Calibri"/>
              </a:rPr>
              <a:t>of firms delayed or postponed investments under tariff pressure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319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FAF8F3"/>
                </a:solidFill>
                <a:latin typeface="Calibri"/>
              </a:rPr>
              <a:t>•  US manufacturing imports hit a four-year high despite record reshoring talk — tariffs redirected origins more than they eliminated import dependence.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FAF8F3"/>
                </a:solidFill>
                <a:latin typeface="Calibri"/>
              </a:rPr>
              <a:t>•  Margin pressure is structural: price pass-through and selective inventory remain the common near-term tools.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FAF8F3"/>
                </a:solidFill>
                <a:latin typeface="Calibri"/>
              </a:rPr>
              <a:t>•  Digital visibility, supplier mapping, and FTA-aware routing are rising as growth enablers, not only as risk tools.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BC"/>
                </a:solidFill>
                <a:latin typeface="Calibri"/>
              </a:rPr>
              <a:t>Sources: DP World GTO 2026; Kearney 2026; KPMG 2026 Tariff Survey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A87C"/>
                </a:solidFill>
                <a:latin typeface="Calibri"/>
              </a:rPr>
              <a:t>07 — IMPLICATIONS FOR LEADERS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AF8F3"/>
                </a:solidFill>
                <a:latin typeface="Calibri"/>
              </a:rPr>
              <a:t>Design for disruption, not for calm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6583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>
                <a:solidFill>
                  <a:srgbClr val="FAF8F3"/>
                </a:solidFill>
                <a:latin typeface="Calibri"/>
              </a:rPr>
              <a:t>•  Treat tariffs as a permanent planning variable — model rate paths, carve-outs, and retaliation in every sourcing case.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FAF8F3"/>
                </a:solidFill>
                <a:latin typeface="Calibri"/>
              </a:rPr>
              <a:t>•  Map multi-tier exposure — assembly outside China still fails if critical inputs and tooling do not.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FAF8F3"/>
                </a:solidFill>
                <a:latin typeface="Calibri"/>
              </a:rPr>
              <a:t>•  Invest in dual routes and dual suppliers — chokepoint and conflict risk will keep capacity lumpy.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FAF8F3"/>
                </a:solidFill>
                <a:latin typeface="Calibri"/>
              </a:rPr>
              <a:t>•  Prefer flexible capital — smaller, staged bets beat large irreversible bets while policy stays fluid.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FAF8F3"/>
                </a:solidFill>
                <a:latin typeface="Calibri"/>
              </a:rPr>
              <a:t>•  Make resilience a P&amp;L story — boards reward continuity that protects revenue, not only cost wins.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1737360"/>
            <a:ext cx="4023360" cy="3474720"/>
          </a:xfrm>
          <a:prstGeom prst="rect">
            <a:avLst/>
          </a:prstGeom>
          <a:solidFill>
            <a:srgbClr val="1A2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79" y="1737360"/>
            <a:ext cx="4023360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210312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2EFE6"/>
                </a:solidFill>
                <a:latin typeface="Calibri"/>
              </a:rPr>
              <a:t>The winners of this cycle will not be the cheapest networks — they will be the ones that can reconfigure fastest when the next shock lands.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3891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A87C"/>
                </a:solidFill>
                <a:latin typeface="Calibri"/>
              </a:rPr>
              <a:t>Resilience is now a growth strategy.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B4BC"/>
                </a:solidFill>
                <a:latin typeface="Calibri"/>
              </a:rPr>
              <a:t>Briefing synthesized from KPMG, PIIE, Kearney, DP World, Capgemini, and Economist Impact research, 2025–2026.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